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8" r:id="rId13"/>
    <p:sldId id="269" r:id="rId14"/>
    <p:sldId id="270" r:id="rId15"/>
    <p:sldId id="274" r:id="rId16"/>
    <p:sldId id="271" r:id="rId17"/>
    <p:sldId id="272" r:id="rId18"/>
    <p:sldId id="273" r:id="rId19"/>
    <p:sldId id="275" r:id="rId20"/>
    <p:sldId id="277" r:id="rId21"/>
    <p:sldId id="281" r:id="rId22"/>
    <p:sldId id="282" r:id="rId23"/>
    <p:sldId id="283" r:id="rId24"/>
    <p:sldId id="276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D678B-74FC-41B1-B1F2-ECF945654E9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18769-691B-4AEB-A48F-C39428A93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078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D678B-74FC-41B1-B1F2-ECF945654E9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18769-691B-4AEB-A48F-C39428A93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67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D678B-74FC-41B1-B1F2-ECF945654E9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18769-691B-4AEB-A48F-C39428A93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53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D678B-74FC-41B1-B1F2-ECF945654E9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18769-691B-4AEB-A48F-C39428A93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69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D678B-74FC-41B1-B1F2-ECF945654E9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18769-691B-4AEB-A48F-C39428A9391C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145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D678B-74FC-41B1-B1F2-ECF945654E9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18769-691B-4AEB-A48F-C39428A93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676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D678B-74FC-41B1-B1F2-ECF945654E9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18769-691B-4AEB-A48F-C39428A93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60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D678B-74FC-41B1-B1F2-ECF945654E9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18769-691B-4AEB-A48F-C39428A93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73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5CD678B-74FC-41B1-B1F2-ECF945654E9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18769-691B-4AEB-A48F-C39428A93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4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D678B-74FC-41B1-B1F2-ECF945654E9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18769-691B-4AEB-A48F-C39428A93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695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D678B-74FC-41B1-B1F2-ECF945654E9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18769-691B-4AEB-A48F-C39428A93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89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5CD678B-74FC-41B1-B1F2-ECF945654E9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DD18769-691B-4AEB-A48F-C39428A93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574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573E4-3937-4AE7-8B3A-1C15DD6A31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Poverty and Unemployment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352FF-9AD4-4787-8E59-A95013EC9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0188" y="4388403"/>
            <a:ext cx="6801612" cy="1239894"/>
          </a:xfrm>
        </p:spPr>
        <p:txBody>
          <a:bodyPr>
            <a:normAutofit/>
          </a:bodyPr>
          <a:lstStyle/>
          <a:p>
            <a:pPr algn="r"/>
            <a:r>
              <a:rPr lang="en-IN" sz="2800" b="1" dirty="0"/>
              <a:t>Prepared by:  </a:t>
            </a:r>
            <a:r>
              <a:rPr lang="en-IN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Prakhar Khandelwal</a:t>
            </a:r>
          </a:p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Prachi Saini</a:t>
            </a:r>
          </a:p>
        </p:txBody>
      </p:sp>
    </p:spTree>
    <p:extLst>
      <p:ext uri="{BB962C8B-B14F-4D97-AF65-F5344CB8AC3E}">
        <p14:creationId xmlns:p14="http://schemas.microsoft.com/office/powerpoint/2010/main" val="1708603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84960-8A0E-43AC-9ACA-1DB9188DB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34A5-9708-4AB7-A572-31D86E41C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Poverty</a:t>
            </a:r>
            <a:r>
              <a:rPr lang="en-US" sz="2000" dirty="0"/>
              <a:t> and </a:t>
            </a:r>
            <a:r>
              <a:rPr lang="en-US" sz="2000" b="1" dirty="0"/>
              <a:t>Unemployment</a:t>
            </a:r>
            <a:r>
              <a:rPr lang="en-US" sz="2000" dirty="0"/>
              <a:t> are two critical socio-economic indicators that directly affect a nation’s growth and development.</a:t>
            </a:r>
          </a:p>
          <a:p>
            <a:r>
              <a:rPr lang="en-US" sz="2000" dirty="0"/>
              <a:t>• Poverty reflects the inability of individuals to meet basic living standards</a:t>
            </a:r>
            <a:br>
              <a:rPr lang="en-US" sz="2000" dirty="0"/>
            </a:br>
            <a:r>
              <a:rPr lang="en-US" sz="2000" dirty="0"/>
              <a:t>• Unemployment represents the lack of job opportunities within an economy</a:t>
            </a:r>
          </a:p>
          <a:p>
            <a:r>
              <a:rPr lang="en-US" sz="2000" dirty="0"/>
              <a:t>Understanding the relationship between these indicators helps governments and policymakers design effective economic and social welfare programs.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616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D8506-420F-4FAC-BE52-65BD5F3DB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8A161-BAEC-4B4A-A2DD-9B0FEC64F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1835"/>
            <a:ext cx="10515600" cy="3489100"/>
          </a:xfrm>
        </p:spPr>
        <p:txBody>
          <a:bodyPr>
            <a:normAutofit/>
          </a:bodyPr>
          <a:lstStyle/>
          <a:p>
            <a:r>
              <a:rPr lang="en-US" sz="2400" dirty="0"/>
              <a:t>Despite economic development, many regions continue to experience high levels of poverty and unemployment.</a:t>
            </a:r>
          </a:p>
          <a:p>
            <a:endParaRPr lang="en-US" sz="2400" b="1" dirty="0"/>
          </a:p>
          <a:p>
            <a:r>
              <a:rPr lang="en-US" sz="2400" b="1" dirty="0"/>
              <a:t>Problem Addressed:</a:t>
            </a:r>
            <a:br>
              <a:rPr lang="en-US" sz="2400" dirty="0"/>
            </a:br>
            <a:r>
              <a:rPr lang="en-US" sz="2400" dirty="0"/>
              <a:t>• Understanding the relationship between poverty and unemployment</a:t>
            </a:r>
            <a:br>
              <a:rPr lang="en-US" sz="2400" dirty="0"/>
            </a:br>
            <a:r>
              <a:rPr lang="en-US" sz="2400" dirty="0"/>
              <a:t>• Identifying trends and patterns across regions and time</a:t>
            </a:r>
            <a:br>
              <a:rPr lang="en-US" sz="2400" dirty="0"/>
            </a:br>
            <a:r>
              <a:rPr lang="en-US" sz="2400" dirty="0"/>
              <a:t>• Using data-driven analysis to support policy-level decisions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004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D459A-3665-4C10-BA7E-602D62CD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5C0C4-2F01-4FC3-894D-8A3FE7D4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847" y="2638044"/>
            <a:ext cx="9242612" cy="3493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main objectives of this project are:</a:t>
            </a:r>
          </a:p>
          <a:p>
            <a:pPr marL="0" indent="0">
              <a:buNone/>
            </a:pPr>
            <a:r>
              <a:rPr lang="en-US" sz="2400" dirty="0"/>
              <a:t>• To perform Exploratory Data Analysis (EDA) on poverty and                          unemployment data</a:t>
            </a:r>
            <a:br>
              <a:rPr lang="en-US" sz="2400" dirty="0"/>
            </a:br>
            <a:r>
              <a:rPr lang="en-US" sz="2400" dirty="0"/>
              <a:t>• To analyze the correlation between poverty and unemployment</a:t>
            </a:r>
            <a:br>
              <a:rPr lang="en-US" sz="2400" dirty="0"/>
            </a:br>
            <a:r>
              <a:rPr lang="en-US" sz="2400" dirty="0"/>
              <a:t>• To visualize trends using an interactive Power BI dashboard</a:t>
            </a:r>
            <a:br>
              <a:rPr lang="en-US" sz="2400" dirty="0"/>
            </a:br>
            <a:r>
              <a:rPr lang="en-US" sz="2400" dirty="0"/>
              <a:t>• To derive meaningful insights from data analysis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58545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4AA0-FB93-4127-8E6A-AFE9760D1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19AEE-1C0D-40B4-BF58-A5B879DDA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7435" y="2638044"/>
            <a:ext cx="8293429" cy="3556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• </a:t>
            </a:r>
            <a:r>
              <a:rPr lang="en-US" sz="2000" b="1" dirty="0"/>
              <a:t>Source:</a:t>
            </a:r>
            <a:r>
              <a:rPr lang="en-US" sz="2000" dirty="0"/>
              <a:t> </a:t>
            </a:r>
            <a:r>
              <a:rPr lang="en-US" sz="2000" i="1" dirty="0"/>
              <a:t>Kaggle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Time Period:</a:t>
            </a:r>
            <a:r>
              <a:rPr lang="en-US" sz="2000" dirty="0"/>
              <a:t> </a:t>
            </a:r>
            <a:r>
              <a:rPr lang="en-US" sz="2000" i="1" dirty="0"/>
              <a:t>[2018 to 2023]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Number of Records:</a:t>
            </a:r>
            <a:r>
              <a:rPr lang="en-US" sz="2000" dirty="0"/>
              <a:t> </a:t>
            </a:r>
            <a:r>
              <a:rPr lang="en-US" sz="2000" i="1" dirty="0"/>
              <a:t>[701]</a:t>
            </a:r>
            <a:endParaRPr lang="en-US" sz="2000" dirty="0"/>
          </a:p>
          <a:p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Key Variables:</a:t>
            </a:r>
            <a:br>
              <a:rPr lang="en-US" sz="2000" dirty="0"/>
            </a:br>
            <a:r>
              <a:rPr lang="en-US" sz="2000" dirty="0"/>
              <a:t>• Poverty Rate</a:t>
            </a:r>
            <a:br>
              <a:rPr lang="en-US" sz="2000" dirty="0"/>
            </a:br>
            <a:r>
              <a:rPr lang="en-US" sz="2000" dirty="0"/>
              <a:t>• Unemployment Rate</a:t>
            </a:r>
            <a:br>
              <a:rPr lang="en-US" sz="2000" dirty="0"/>
            </a:br>
            <a:r>
              <a:rPr lang="en-US" sz="2000" dirty="0"/>
              <a:t>• Region / Country</a:t>
            </a:r>
            <a:br>
              <a:rPr lang="en-US" sz="2000" dirty="0"/>
            </a:br>
            <a:r>
              <a:rPr lang="en-US" sz="2000" dirty="0"/>
              <a:t>• Year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386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48556-F61C-41B4-8CB2-49421632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84B51-FCDE-415B-931C-5064E6931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2894"/>
            <a:ext cx="10515600" cy="3864069"/>
          </a:xfrm>
        </p:spPr>
        <p:txBody>
          <a:bodyPr>
            <a:normAutofit/>
          </a:bodyPr>
          <a:lstStyle/>
          <a:p>
            <a:r>
              <a:rPr lang="en-IN" sz="2000" b="1" dirty="0"/>
              <a:t>Python:</a:t>
            </a:r>
            <a:br>
              <a:rPr lang="en-IN" sz="2000" dirty="0"/>
            </a:br>
            <a:r>
              <a:rPr lang="en-IN" sz="2000" dirty="0"/>
              <a:t>• Used for data cleaning, EDA, and correlation analysis</a:t>
            </a:r>
            <a:br>
              <a:rPr lang="en-IN" sz="2000" dirty="0"/>
            </a:br>
            <a:r>
              <a:rPr lang="en-IN" sz="2000" dirty="0"/>
              <a:t>• Libraries:</a:t>
            </a:r>
          </a:p>
          <a:p>
            <a:pPr lvl="1"/>
            <a:r>
              <a:rPr lang="en-IN" sz="1800" dirty="0"/>
              <a:t>Pandas</a:t>
            </a:r>
          </a:p>
          <a:p>
            <a:pPr lvl="1"/>
            <a:r>
              <a:rPr lang="en-IN" sz="1800" dirty="0"/>
              <a:t>NumPy</a:t>
            </a:r>
          </a:p>
          <a:p>
            <a:pPr lvl="1"/>
            <a:r>
              <a:rPr lang="en-IN" sz="1800" dirty="0"/>
              <a:t>Matplotlib</a:t>
            </a:r>
          </a:p>
          <a:p>
            <a:pPr lvl="1"/>
            <a:r>
              <a:rPr lang="en-IN" sz="1800" dirty="0"/>
              <a:t>Seaborn</a:t>
            </a:r>
          </a:p>
          <a:p>
            <a:r>
              <a:rPr lang="en-IN" sz="2000" b="1" dirty="0"/>
              <a:t>Power BI:</a:t>
            </a:r>
            <a:br>
              <a:rPr lang="en-IN" sz="2000" dirty="0"/>
            </a:br>
            <a:r>
              <a:rPr lang="en-IN" sz="2000" dirty="0"/>
              <a:t>• Used for creating interactive dashboards</a:t>
            </a:r>
            <a:br>
              <a:rPr lang="en-IN" sz="2000" dirty="0"/>
            </a:br>
            <a:r>
              <a:rPr lang="en-IN" sz="2000" dirty="0"/>
              <a:t>• Visual representation of trends and KPIs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98311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E7E8-121F-4AAC-9BD1-A8300823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C8260-4CBD-4196-80A5-D8BF723F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3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Project Workflow:</a:t>
            </a: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Data Collection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Data Cleaning &amp; Preprocessing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Exploratory Data Analysis (EDA)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Correlation &amp; Regression Analysis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Power BI Dashboard Creation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Insights &amp; Conclusion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36938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6C5B-0B1A-4367-AB01-B6E7840E3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CE523-3FFD-4306-8A44-1EBC20345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Data Cleaning Steps:</a:t>
            </a:r>
            <a:endParaRPr lang="en-US" sz="2000" dirty="0"/>
          </a:p>
          <a:p>
            <a:pPr marL="457200" lvl="1" indent="0">
              <a:buNone/>
            </a:pPr>
            <a:r>
              <a:rPr lang="en-US" sz="3200" dirty="0"/>
              <a:t>• </a:t>
            </a:r>
            <a:r>
              <a:rPr lang="en-US" sz="2400" dirty="0"/>
              <a:t>Handled missing and null values</a:t>
            </a:r>
            <a:br>
              <a:rPr lang="en-US" sz="2400" dirty="0"/>
            </a:br>
            <a:r>
              <a:rPr lang="en-US" sz="2400" dirty="0"/>
              <a:t>• Corrected data types</a:t>
            </a:r>
            <a:br>
              <a:rPr lang="en-US" sz="2400" dirty="0"/>
            </a:br>
            <a:r>
              <a:rPr lang="en-US" sz="2400" dirty="0"/>
              <a:t>• Removed duplicate records</a:t>
            </a:r>
            <a:br>
              <a:rPr lang="en-US" sz="2400" dirty="0"/>
            </a:br>
            <a:r>
              <a:rPr lang="en-US" sz="2400" dirty="0"/>
              <a:t>• Selected relevant features for analysis</a:t>
            </a:r>
            <a:endParaRPr lang="en-US" sz="3200" dirty="0"/>
          </a:p>
          <a:p>
            <a:pPr marL="0" indent="0">
              <a:buNone/>
            </a:pPr>
            <a:r>
              <a:rPr lang="en-US" sz="2000" dirty="0"/>
              <a:t>This ensured data accuracy and consistency for further analysis.</a:t>
            </a:r>
          </a:p>
        </p:txBody>
      </p:sp>
    </p:spTree>
    <p:extLst>
      <p:ext uri="{BB962C8B-B14F-4D97-AF65-F5344CB8AC3E}">
        <p14:creationId xmlns:p14="http://schemas.microsoft.com/office/powerpoint/2010/main" val="391623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29E44-7472-4A7A-B812-02C98C0E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3683B-76B8-4718-8642-9DC4F09AC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/>
              <a:t>There are different Charts used for the better insights for analysis.</a:t>
            </a:r>
          </a:p>
          <a:p>
            <a:pPr lvl="1"/>
            <a:r>
              <a:rPr lang="en-US" sz="2600" dirty="0">
                <a:cs typeface="Times New Roman" panose="02020603050405020304" pitchFamily="18" charset="0"/>
              </a:rPr>
              <a:t>Bar Chart – Average Population by State</a:t>
            </a:r>
          </a:p>
          <a:p>
            <a:pPr lvl="1"/>
            <a:r>
              <a:rPr lang="en-US" sz="2600" dirty="0">
                <a:cs typeface="Times New Roman" panose="02020603050405020304" pitchFamily="18" charset="0"/>
              </a:rPr>
              <a:t>Line Chart – Poverty Rate Over Time</a:t>
            </a:r>
          </a:p>
          <a:p>
            <a:pPr lvl="1"/>
            <a:r>
              <a:rPr lang="en-US" sz="2600" dirty="0">
                <a:cs typeface="Times New Roman" panose="02020603050405020304" pitchFamily="18" charset="0"/>
              </a:rPr>
              <a:t>Bar Chart – Poverty Rate by top 10 State</a:t>
            </a:r>
          </a:p>
          <a:p>
            <a:pPr lvl="1"/>
            <a:r>
              <a:rPr lang="en-IN" sz="2600" dirty="0">
                <a:cs typeface="Times New Roman" panose="02020603050405020304" pitchFamily="18" charset="0"/>
              </a:rPr>
              <a:t>Box Plot – Poverty Rate</a:t>
            </a:r>
          </a:p>
          <a:p>
            <a:pPr lvl="1"/>
            <a:r>
              <a:rPr lang="en-US" sz="2600" dirty="0">
                <a:cs typeface="Times New Roman" panose="02020603050405020304" pitchFamily="18" charset="0"/>
              </a:rPr>
              <a:t>Scatter Chart – GDP Vs Poverty Rate</a:t>
            </a:r>
            <a:endParaRPr lang="en-IN" sz="2600" dirty="0"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473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2BCEBFA-6517-442A-9787-46D75706B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1"/>
            <a:ext cx="10515600" cy="744070"/>
          </a:xfrm>
        </p:spPr>
        <p:txBody>
          <a:bodyPr>
            <a:noAutofit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– Average Population by State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3E3912-7D20-43AB-9573-282964FA1D79}"/>
              </a:ext>
            </a:extLst>
          </p:cNvPr>
          <p:cNvSpPr txBox="1"/>
          <p:nvPr/>
        </p:nvSpPr>
        <p:spPr>
          <a:xfrm>
            <a:off x="306806" y="1340358"/>
            <a:ext cx="42262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Chhattisgarh has the highest average population among the listed states.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Haryana and Telangana closely follow, indicating relatively higher population concentration.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Bihar, Himachal Pradesh, and Goa are on the lower end among the top 10.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population values are fairly close (roughly between 1.6–1.9 million), suggesting no extreme population disparity among these states.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distribution indicates moderate population balance, rather than dominance by one state.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5645EC-5B94-B8C5-4D49-30C48791D9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237" y="1420238"/>
            <a:ext cx="6269797" cy="3463047"/>
          </a:xfrm>
        </p:spPr>
      </p:pic>
    </p:spTree>
    <p:extLst>
      <p:ext uri="{BB962C8B-B14F-4D97-AF65-F5344CB8AC3E}">
        <p14:creationId xmlns:p14="http://schemas.microsoft.com/office/powerpoint/2010/main" val="3218351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D8EDF2-E547-43CC-9DDA-A9183613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798" y="137123"/>
            <a:ext cx="8405308" cy="90278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– Poverty Rate Over Time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B454776-D139-470F-A87D-6CC1B11F4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39906"/>
            <a:ext cx="6096000" cy="5746376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B1C83A-BF1C-4329-B76F-6D65471F1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2729" y="1640435"/>
            <a:ext cx="5307105" cy="38370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This chart illustrates the </a:t>
            </a:r>
            <a:r>
              <a:rPr lang="en-US" sz="3200" b="1" dirty="0"/>
              <a:t>trend of poverty over time</a:t>
            </a:r>
            <a:r>
              <a:rPr lang="en-US" sz="3200" dirty="0"/>
              <a:t>, showing whether poverty levels are increasing or decreasing.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99093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B77C-0815-431D-9059-6352F4260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66684" cy="789907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– Poverty Rate by top 10 State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CBE6F0-5B1A-4841-BB83-E5ED1DE5E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833" y="2537012"/>
            <a:ext cx="6614809" cy="33968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07ACE3-924E-4AED-83D6-F4DF25906A6E}"/>
              </a:ext>
            </a:extLst>
          </p:cNvPr>
          <p:cNvSpPr txBox="1"/>
          <p:nvPr/>
        </p:nvSpPr>
        <p:spPr>
          <a:xfrm>
            <a:off x="625642" y="1299411"/>
            <a:ext cx="108765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Compares </a:t>
            </a:r>
            <a:r>
              <a:rPr lang="en-US" sz="2800" b="1" dirty="0"/>
              <a:t>average poverty levels across regions</a:t>
            </a:r>
            <a:r>
              <a:rPr lang="en-US" sz="2800" dirty="0"/>
              <a:t>, identifying high-poverty areas.</a:t>
            </a:r>
          </a:p>
        </p:txBody>
      </p:sp>
    </p:spTree>
    <p:extLst>
      <p:ext uri="{BB962C8B-B14F-4D97-AF65-F5344CB8AC3E}">
        <p14:creationId xmlns:p14="http://schemas.microsoft.com/office/powerpoint/2010/main" val="949350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FF5D-CC02-40CD-B480-0AD0F25BB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196"/>
            <a:ext cx="10515600" cy="83803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– Poverty Rate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0078CB-7086-4F9F-BC56-49ACCC083C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90" y="2142565"/>
            <a:ext cx="10846822" cy="428512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84951F-8298-45E7-B7D6-29E24DE1687D}"/>
              </a:ext>
            </a:extLst>
          </p:cNvPr>
          <p:cNvSpPr txBox="1"/>
          <p:nvPr/>
        </p:nvSpPr>
        <p:spPr>
          <a:xfrm>
            <a:off x="681790" y="1347537"/>
            <a:ext cx="93284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box plot highlights the </a:t>
            </a:r>
            <a:r>
              <a:rPr lang="en-US" b="1" dirty="0"/>
              <a:t>median, spread, and outliers</a:t>
            </a:r>
            <a:r>
              <a:rPr lang="en-US" dirty="0"/>
              <a:t> in poverty data, identifying regions with unusually high or low poverty.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7911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5507E8-5A56-4910-97DC-935C8499D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41" y="74370"/>
            <a:ext cx="11958917" cy="85796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Chart – GDP Vs Poverty Rate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CFB7DA0-B518-48CA-A016-1BB9BF9D9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32330"/>
            <a:ext cx="5979459" cy="592567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4169C1-B4B3-4417-A32A-539C4ECA0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541" y="1425282"/>
            <a:ext cx="5330056" cy="436591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chart shows that higher GDP per capita doesn’t guarantee a lower poverty rate, indicating that economic growth alone may not be sufficient to reduce poverty without complementary social policies.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94590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F454A-11BA-4E41-8AEB-0374BA303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7DDCA-AB0E-4B19-BB36-790EF4852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Correlation Analysis: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Method Used: Pearson Correlation</a:t>
            </a:r>
          </a:p>
          <a:p>
            <a:pPr marL="0" indent="0">
              <a:buNone/>
            </a:pPr>
            <a:r>
              <a:rPr lang="en-US" sz="2000" b="1" dirty="0"/>
              <a:t>Visualization:</a:t>
            </a:r>
            <a:br>
              <a:rPr lang="en-US" sz="2000" dirty="0"/>
            </a:br>
            <a:r>
              <a:rPr lang="en-US" sz="2000" dirty="0"/>
              <a:t>• Scatter Plot</a:t>
            </a:r>
            <a:br>
              <a:rPr lang="en-US" sz="2000" dirty="0"/>
            </a:br>
            <a:r>
              <a:rPr lang="en-US" sz="2000" dirty="0"/>
              <a:t>• Heatmap</a:t>
            </a:r>
          </a:p>
          <a:p>
            <a:pPr marL="0" indent="0">
              <a:buNone/>
            </a:pPr>
            <a:r>
              <a:rPr lang="en-US" sz="2000" b="1" dirty="0"/>
              <a:t>Interpretation:</a:t>
            </a:r>
            <a:br>
              <a:rPr lang="en-US" sz="2000" dirty="0"/>
            </a:br>
            <a:r>
              <a:rPr lang="en-US" sz="2000" dirty="0"/>
              <a:t>• Indicates a </a:t>
            </a:r>
            <a:r>
              <a:rPr lang="en-US" sz="2000" b="1" dirty="0"/>
              <a:t>positive relationship</a:t>
            </a:r>
            <a:r>
              <a:rPr lang="en-US" sz="2000" dirty="0"/>
              <a:t> between poverty and unemployment</a:t>
            </a:r>
            <a:br>
              <a:rPr lang="en-US" sz="2000" dirty="0"/>
            </a:br>
            <a:r>
              <a:rPr lang="en-US" sz="2000" dirty="0"/>
              <a:t>• As unemployment increases, poverty tends to rise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0818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FDA24-8E1A-46CB-ACCE-6B154132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320" y="193727"/>
            <a:ext cx="7729728" cy="87307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Chart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EA40B-8F24-4620-9386-3CB52F28A055}"/>
              </a:ext>
            </a:extLst>
          </p:cNvPr>
          <p:cNvSpPr txBox="1"/>
          <p:nvPr/>
        </p:nvSpPr>
        <p:spPr>
          <a:xfrm>
            <a:off x="793376" y="1323898"/>
            <a:ext cx="9893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scatter plots show no clear linear relationship among poverty, unemployment, and literacy – the points are widely dispersed, suggesting that each variable likely interacts with other unseen factors rather than directly influencing one another in a simple way. </a:t>
            </a:r>
            <a:endParaRPr lang="en-IN" sz="2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CAD78F-7A82-4B7E-7F4A-D3FDFFD87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98" y="3159782"/>
            <a:ext cx="11291333" cy="3007553"/>
          </a:xfrm>
        </p:spPr>
      </p:pic>
    </p:spTree>
    <p:extLst>
      <p:ext uri="{BB962C8B-B14F-4D97-AF65-F5344CB8AC3E}">
        <p14:creationId xmlns:p14="http://schemas.microsoft.com/office/powerpoint/2010/main" val="2226078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895170-AEC3-4FB1-BCAA-94FCE9FE0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24118"/>
            <a:ext cx="10276447" cy="818619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4EBA03-BB32-42ED-9F4D-EEA8F782E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2047" y="1685365"/>
            <a:ext cx="4941141" cy="4183623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heatmap displays the </a:t>
            </a:r>
            <a:r>
              <a:rPr lang="en-US" sz="2800" b="1" dirty="0"/>
              <a:t>strength and direction of correlation</a:t>
            </a:r>
            <a:r>
              <a:rPr lang="en-US" sz="2800" dirty="0"/>
              <a:t> between poverty and unemployment using color intensity.</a:t>
            </a:r>
          </a:p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FA35D7-4D7B-ABFE-5943-A78443ABA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541786"/>
            <a:ext cx="6085221" cy="4820103"/>
          </a:xfrm>
        </p:spPr>
      </p:pic>
    </p:spTree>
    <p:extLst>
      <p:ext uri="{BB962C8B-B14F-4D97-AF65-F5344CB8AC3E}">
        <p14:creationId xmlns:p14="http://schemas.microsoft.com/office/powerpoint/2010/main" val="2810615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2AAC0-05DB-46AC-BD43-E843BD61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from Python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ADAEB-CA97-411B-9402-FDB44FFA6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3200" dirty="0"/>
              <a:t>• Poverty and unemployment are positively correlated.</a:t>
            </a:r>
            <a:br>
              <a:rPr lang="en-US" sz="3200" dirty="0"/>
            </a:br>
            <a:r>
              <a:rPr lang="en-US" sz="3200" dirty="0"/>
              <a:t>• Certain regions consistently show higher poverty levels.</a:t>
            </a:r>
            <a:br>
              <a:rPr lang="en-US" sz="3200" dirty="0"/>
            </a:br>
            <a:r>
              <a:rPr lang="en-US" sz="3200" dirty="0"/>
              <a:t>• Economic conditions vary significantly across years</a:t>
            </a:r>
            <a:br>
              <a:rPr lang="en-US" sz="3200" dirty="0"/>
            </a:br>
            <a:r>
              <a:rPr lang="en-US" sz="3200" dirty="0"/>
              <a:t>• Regions with high unemployment tend to experience higher poverty.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34434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FAD9-39A5-4248-B4DB-F2101229A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D6475-5EB7-47AB-9C30-53EA18123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Dashboard Features:</a:t>
            </a:r>
            <a:endParaRPr lang="en-US" dirty="0"/>
          </a:p>
          <a:p>
            <a:r>
              <a:rPr lang="en-US" dirty="0"/>
              <a:t> Interactive KPIs for Poverty &amp; Unemployment</a:t>
            </a:r>
          </a:p>
          <a:p>
            <a:r>
              <a:rPr lang="en-US" dirty="0"/>
              <a:t> Filters:</a:t>
            </a:r>
          </a:p>
          <a:p>
            <a:pPr lvl="1"/>
            <a:r>
              <a:rPr lang="en-US" dirty="0"/>
              <a:t>Year</a:t>
            </a:r>
          </a:p>
          <a:p>
            <a:pPr lvl="1"/>
            <a:r>
              <a:rPr lang="en-US" dirty="0"/>
              <a:t>Region</a:t>
            </a:r>
          </a:p>
          <a:p>
            <a:pPr lvl="1"/>
            <a:r>
              <a:rPr lang="en-US" dirty="0"/>
              <a:t> Dynamic charts and visuals</a:t>
            </a:r>
          </a:p>
        </p:txBody>
      </p:sp>
    </p:spTree>
    <p:extLst>
      <p:ext uri="{BB962C8B-B14F-4D97-AF65-F5344CB8AC3E}">
        <p14:creationId xmlns:p14="http://schemas.microsoft.com/office/powerpoint/2010/main" val="2472178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9ACC-E86D-4E06-B960-C9B0B6C2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83"/>
            <a:ext cx="10515600" cy="80682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C7E98-3F4F-4323-A1E5-0BAFA5E7D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082" y="1362634"/>
            <a:ext cx="11573436" cy="528917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Key Metrics insights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average GDP per capita stands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₹137.61K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moderate economic output.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Despite this,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poverty (19.92%)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unemployment (8.39%)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remain significant concerns.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Youth unemployment is notably higher at 14.89%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highlighting employment challenges for younger populations.</a:t>
            </a:r>
          </a:p>
          <a:p>
            <a:endParaRPr lang="en-IN" b="1" dirty="0"/>
          </a:p>
          <a:p>
            <a:pPr marL="0" indent="0">
              <a:buNone/>
            </a:pPr>
            <a:r>
              <a:rPr lang="en-IN" b="1" dirty="0"/>
              <a:t>Charts Insights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Relationship Between Poverty and Unemployment(Scatter plot)</a:t>
            </a:r>
            <a:endParaRPr lang="en-US" dirty="0"/>
          </a:p>
          <a:p>
            <a:pPr lvl="1"/>
            <a:r>
              <a:rPr lang="en-US" dirty="0"/>
              <a:t>The scatter plot shows a </a:t>
            </a:r>
            <a:r>
              <a:rPr lang="en-US" b="1" dirty="0"/>
              <a:t>wide dispersion with no strong linear relationship</a:t>
            </a:r>
            <a:r>
              <a:rPr lang="en-US" dirty="0"/>
              <a:t> between poverty and unemployment.</a:t>
            </a:r>
          </a:p>
          <a:p>
            <a:pPr lvl="1"/>
            <a:r>
              <a:rPr lang="en-US" dirty="0"/>
              <a:t>This suggests that unemployment alone does not fully explain poverty levels, and other factors such as education, sectoral employment, and regional development play a role.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655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B4F53-3034-4C93-B1CE-B34F1839A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835" y="170328"/>
            <a:ext cx="11672047" cy="645458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vs Poverty Trend(Scatter plot)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/>
              <a:t>The GDP vs Poverty plot indicates an inverse relationship.</a:t>
            </a:r>
          </a:p>
          <a:p>
            <a:pPr lvl="1"/>
            <a:r>
              <a:rPr lang="en-US" sz="2400" dirty="0"/>
              <a:t>Regions with higher GDP per capita generally show lower poverty rates, reinforcing the importance of economic growth in poverty reduction.</a:t>
            </a:r>
          </a:p>
          <a:p>
            <a:pPr marL="457200" lvl="1" indent="0">
              <a:buNone/>
            </a:pP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 State-Wise Poverty Distribution(Bar Chart)</a:t>
            </a:r>
          </a:p>
          <a:p>
            <a:pPr lvl="1"/>
            <a:r>
              <a:rPr lang="en-US" sz="2400" dirty="0"/>
              <a:t>Significant variation exists across states.</a:t>
            </a:r>
          </a:p>
          <a:p>
            <a:pPr lvl="1"/>
            <a:r>
              <a:rPr lang="en-US" sz="2400" dirty="0"/>
              <a:t>Himachal Pradesh shows the lowest poverty levels, while Jammu &amp; Kashmir records the highest, pointing to strong regional disparities that require targeted policy interventions.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3749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6C40A-9910-49B3-A42D-C6B47649C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89" y="161364"/>
            <a:ext cx="11492752" cy="6391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4. Education Trends: Enrollment vs Dropout(Bar &amp; Line Chart)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sz="1800" dirty="0"/>
              <a:t>School enrollment remains relatively stable between </a:t>
            </a:r>
            <a:r>
              <a:rPr lang="en-US" sz="1800" b="1" dirty="0"/>
              <a:t>40%–60%</a:t>
            </a:r>
            <a:r>
              <a:rPr lang="en-US" sz="1800" dirty="0"/>
              <a:t> from 2018 to 2022.</a:t>
            </a:r>
          </a:p>
          <a:p>
            <a:pPr lvl="1"/>
            <a:r>
              <a:rPr lang="en-US" sz="1800" dirty="0"/>
              <a:t>Dropout rates declined until 2020 but </a:t>
            </a:r>
            <a:r>
              <a:rPr lang="en-US" sz="1800" b="1" dirty="0"/>
              <a:t>rose again to 11% by 2022</a:t>
            </a:r>
            <a:r>
              <a:rPr lang="en-US" sz="1800" dirty="0"/>
              <a:t>, indicating post-pandemic challenges in retaining students.</a:t>
            </a:r>
          </a:p>
          <a:p>
            <a:pPr lvl="1"/>
            <a:r>
              <a:rPr lang="en-US" sz="1800" dirty="0"/>
              <a:t>Rising dropout rates may negatively impact future employment and poverty outcomes.</a:t>
            </a:r>
          </a:p>
          <a:p>
            <a:pPr lvl="1"/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5. Unemployment Trend Over Time(Line Chart)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sz="1800" dirty="0"/>
              <a:t>Unemployment increased steadily from 2018, peaking in 2021, likely due to economic disruptions.</a:t>
            </a:r>
          </a:p>
          <a:p>
            <a:pPr lvl="1"/>
            <a:r>
              <a:rPr lang="en-US" sz="1800" dirty="0"/>
              <a:t>A decline in 2022 suggests early signs of recovery, though levels remain elevated compared to pre-2019.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2812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B763F-0368-44AD-A8CF-01F22D3DF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13" y="197224"/>
            <a:ext cx="11654116" cy="6445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6. Employment Structure by Sector(Pie Chart)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sz="1800" dirty="0"/>
              <a:t>Services (39.27%) employ the largest share of the workforce, followed closely by Agriculture (36.79%).</a:t>
            </a:r>
          </a:p>
          <a:p>
            <a:pPr lvl="1"/>
            <a:r>
              <a:rPr lang="en-US" sz="1800" dirty="0"/>
              <a:t>The economy is transitioning toward services, but a large dependency on agriculture indicates vulnerability to income instability.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Overall Conclusion</a:t>
            </a:r>
          </a:p>
          <a:p>
            <a:pPr marL="0" indent="0">
              <a:buNone/>
            </a:pPr>
            <a:endParaRPr lang="en-US" b="1" dirty="0"/>
          </a:p>
          <a:p>
            <a:pPr lvl="1"/>
            <a:r>
              <a:rPr lang="en-US" sz="1800" dirty="0"/>
              <a:t>Economic growth alone is insufficient; job creation, education retention, and youth employment must be prioritized.</a:t>
            </a:r>
          </a:p>
          <a:p>
            <a:pPr lvl="1"/>
            <a:r>
              <a:rPr lang="en-US" sz="1800" dirty="0"/>
              <a:t>Addressing regional disparities and strengthening the services sector can significantly reduce poverty and unemployment in the long term.</a:t>
            </a:r>
          </a:p>
        </p:txBody>
      </p:sp>
    </p:spTree>
    <p:extLst>
      <p:ext uri="{BB962C8B-B14F-4D97-AF65-F5344CB8AC3E}">
        <p14:creationId xmlns:p14="http://schemas.microsoft.com/office/powerpoint/2010/main" val="2451736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521D8E-56E0-4CA9-8A1A-D256F6F19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51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A879-FA69-4090-9F20-8BD86C562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5E282-533E-4160-A864-00D366F83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638044"/>
            <a:ext cx="8123099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• </a:t>
            </a:r>
            <a:r>
              <a:rPr lang="en-US" sz="2400" dirty="0"/>
              <a:t>Poverty and unemployment are closely related socio-economic issues</a:t>
            </a:r>
            <a:br>
              <a:rPr lang="en-US" sz="2400" dirty="0"/>
            </a:br>
            <a:r>
              <a:rPr lang="en-US" sz="2400" dirty="0"/>
              <a:t>• Data analysis confirms a strong relationship between them</a:t>
            </a:r>
            <a:br>
              <a:rPr lang="en-US" sz="2400" dirty="0"/>
            </a:br>
            <a:r>
              <a:rPr lang="en-US" sz="2400" dirty="0"/>
              <a:t>• Python and Power BI together provide powerful analytical insights</a:t>
            </a:r>
            <a:br>
              <a:rPr lang="en-US" sz="2400" dirty="0"/>
            </a:br>
            <a:r>
              <a:rPr lang="en-US" sz="2400" dirty="0"/>
              <a:t>• The study supports informed decision-making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75400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5A647-4806-4B34-8160-59ED6260B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344BB-E3E6-4B5E-8955-E980EEB2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Employment generation programs in high-risk regions</a:t>
            </a:r>
          </a:p>
          <a:p>
            <a:r>
              <a:rPr lang="en-US" sz="2400" dirty="0"/>
              <a:t>Skill development and education initiatives</a:t>
            </a:r>
          </a:p>
          <a:p>
            <a:r>
              <a:rPr lang="en-US" sz="2400" dirty="0"/>
              <a:t>Targeted poverty reduction policies</a:t>
            </a:r>
          </a:p>
          <a:p>
            <a:r>
              <a:rPr lang="en-US" sz="2400" dirty="0"/>
              <a:t>Use of data analytics for policy planning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74469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306117-D980-4873-8D71-7B6832375883}"/>
              </a:ext>
            </a:extLst>
          </p:cNvPr>
          <p:cNvSpPr txBox="1"/>
          <p:nvPr/>
        </p:nvSpPr>
        <p:spPr>
          <a:xfrm>
            <a:off x="2259106" y="2519082"/>
            <a:ext cx="804134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DA95C9-5ED5-4BAC-9C43-30A60AB7F5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44392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143</TotalTime>
  <Words>1202</Words>
  <Application>Microsoft Office PowerPoint</Application>
  <PresentationFormat>Widescreen</PresentationFormat>
  <Paragraphs>124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Gill Sans MT</vt:lpstr>
      <vt:lpstr>Times New Roman</vt:lpstr>
      <vt:lpstr>Wingdings</vt:lpstr>
      <vt:lpstr>Parcel</vt:lpstr>
      <vt:lpstr>Analysis of Poverty and Unemployment</vt:lpstr>
      <vt:lpstr>Introduction</vt:lpstr>
      <vt:lpstr>Problem Statement</vt:lpstr>
      <vt:lpstr>Objectives</vt:lpstr>
      <vt:lpstr>Dataset Description</vt:lpstr>
      <vt:lpstr>Tools &amp; Technologies Used</vt:lpstr>
      <vt:lpstr>Methodology</vt:lpstr>
      <vt:lpstr>Data Cleaning &amp; Pre-processing</vt:lpstr>
      <vt:lpstr>Exploratory Data Analysis</vt:lpstr>
      <vt:lpstr> Bar Chart – Average Population by State </vt:lpstr>
      <vt:lpstr>Line Chart – Poverty Rate Over Time</vt:lpstr>
      <vt:lpstr>Bar Chart – Poverty Rate by top 10 State</vt:lpstr>
      <vt:lpstr>Box Plot – Poverty Rate</vt:lpstr>
      <vt:lpstr>Scatter Chart – GDP Vs Poverty Rate</vt:lpstr>
      <vt:lpstr>Correlation Analysis</vt:lpstr>
      <vt:lpstr>Scatter Plot Chart</vt:lpstr>
      <vt:lpstr>Correlation Heatmap</vt:lpstr>
      <vt:lpstr>Key Insights from Python Analysis</vt:lpstr>
      <vt:lpstr>Power BI Dashboard Overview</vt:lpstr>
      <vt:lpstr>Dashboard Insights</vt:lpstr>
      <vt:lpstr>PowerPoint Presentation</vt:lpstr>
      <vt:lpstr>PowerPoint Presentation</vt:lpstr>
      <vt:lpstr>PowerPoint Presentation</vt:lpstr>
      <vt:lpstr>PowerPoint Presentation</vt:lpstr>
      <vt:lpstr>Conclusion</vt:lpstr>
      <vt:lpstr>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Poverty and Unemployment</dc:title>
  <dc:creator>prachi saini</dc:creator>
  <cp:lastModifiedBy>Prakhar Khandelwal</cp:lastModifiedBy>
  <cp:revision>10</cp:revision>
  <dcterms:created xsi:type="dcterms:W3CDTF">2025-12-14T16:52:11Z</dcterms:created>
  <dcterms:modified xsi:type="dcterms:W3CDTF">2025-12-15T08:47:52Z</dcterms:modified>
</cp:coreProperties>
</file>